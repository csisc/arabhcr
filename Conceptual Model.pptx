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7E2F75-EE6B-4BA1-8D36-5F4FF9F197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82A0A06-EE4C-49E3-A2E8-24B28D6024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4CFD51-A6C1-4568-ABAC-15F3ECFC4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4D7F-B621-4A8F-B2A5-2847F6BA5EE3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541E3B-DF20-47D5-A7F9-0E4EBD315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98C83F-DE08-42E0-9E6A-01F31C8E9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D4C08-308F-4D45-87A4-D9C23D455B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5981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4C0201-8EA3-4481-944D-728C34315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2C818B-2AEC-4D2A-A43F-ACF70CFD9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D79D09-6194-45C0-B60D-268346CE6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4D7F-B621-4A8F-B2A5-2847F6BA5EE3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2344D9-F3B0-4D2E-A46A-19CE8633B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CFF19A-652E-413B-B984-4CDC2D6FF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D4C08-308F-4D45-87A4-D9C23D455B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640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F2B489-8C77-4078-8AA2-8AE6779B2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8EA63F5-45E8-44B9-BB71-99E19C4D7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9DAEE6-8C8B-4F66-8598-4A4D67545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4D7F-B621-4A8F-B2A5-2847F6BA5EE3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2DB0D3-3328-4582-9B8E-6EA410F93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D8FBCD-CFED-4B92-8DEB-6B6CFF31E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D4C08-308F-4D45-87A4-D9C23D455B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9208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862815-A2E9-40B5-8720-D80F376F2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2FDDEE-BDFB-4D91-80AD-4B32DD4A6B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39472E5-A709-4018-AD91-08962AB23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06528FB-22F9-4A01-94E0-38AADEAF0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4D7F-B621-4A8F-B2A5-2847F6BA5EE3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40490EA-F2D9-473D-A242-91CBA4FFF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1170ED4-4319-408D-A78A-13EFB6ED2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D4C08-308F-4D45-87A4-D9C23D455B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7897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5B7FB3-9853-4967-8DA5-471423C82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54FADA-280F-43FE-8F49-7BD4041E2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20A59E0-8B88-4303-BC4E-51163E1B0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C3F27E6-1E1E-48F5-AE65-5F9483D42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1E36FC3-924F-427A-A95C-FAF1E6A756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527B74A-5843-4987-8768-7A4C42A67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4D7F-B621-4A8F-B2A5-2847F6BA5EE3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834907E-7980-4D8E-BF3A-10C28F3A0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CE18A9D-564C-4527-A504-E277A966D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D4C08-308F-4D45-87A4-D9C23D455B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970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BD51B3-B5FA-4074-BAA5-CAD3D9C85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A208404-D562-4EBC-8211-DFFB6107D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4D7F-B621-4A8F-B2A5-2847F6BA5EE3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E33FEE6-A847-4CE7-8539-6A866E7A1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D565B92-6829-405A-B397-F7B350EE6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D4C08-308F-4D45-87A4-D9C23D455B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0643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0142B03-2ABA-48E4-9F0E-1B5A18C86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4D7F-B621-4A8F-B2A5-2847F6BA5EE3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7A2ADFB-060F-4895-B342-416B40AEA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F769C42-E283-4C78-B3C8-4C53D6A8E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D4C08-308F-4D45-87A4-D9C23D455B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9360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B36260-E2B0-4AD5-95AD-8871D68F1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5A8E1B-FED0-4732-B18D-15FFEABD8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4AC8C09-7C27-4EBC-BCD4-D53A36B18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485B343-65DD-4EB2-A2B4-E0A04D6CD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4D7F-B621-4A8F-B2A5-2847F6BA5EE3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BF72C08-85BB-47E2-A11F-A4A716965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A3ED992-F16D-4115-B71D-E922E2C1D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D4C08-308F-4D45-87A4-D9C23D455B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2226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7543F7-623D-457D-AED8-BBF6DDAA3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ADDDE43-F510-4402-B65A-997611E498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5B9A2DD-FE4C-4DEA-84BA-5088763B9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5FABD0-CA02-4D6B-A955-F616D496F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4D7F-B621-4A8F-B2A5-2847F6BA5EE3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ADA8B6C-6DE0-4683-8B64-56D456B80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BD826CA-2DEC-4517-9EAA-7F0933957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D4C08-308F-4D45-87A4-D9C23D455B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0758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E03F72-FCCA-4D11-BA5E-3117E61D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16E5C2E-551B-40EB-B0F6-14000267C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559107-5F05-418C-BC03-B49385E2C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4D7F-B621-4A8F-B2A5-2847F6BA5EE3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E7242A-7AAC-4540-A5F4-DADED15C3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73DE16-A4F1-49A1-A322-E1AD4643F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D4C08-308F-4D45-87A4-D9C23D455B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1343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22CD33F-E54D-446F-980D-26478F170B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34D4C6A-7A7D-41F9-BCE1-5C5CBF55BD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585E5C-9F28-451C-B482-EF37BA6F6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4D7F-B621-4A8F-B2A5-2847F6BA5EE3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8FEB26-5A9F-4700-A0F9-BDF720767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E7B4B2-385D-4EE5-8FA8-1B86EF77A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D4C08-308F-4D45-87A4-D9C23D455B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3782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8B51FDF-9116-4DD9-85B5-3081B6375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802B689-9F69-4371-A26E-5756A4C0F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535470-8A2B-46C0-A0B7-4C88CD76CD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D4D7F-B621-4A8F-B2A5-2847F6BA5EE3}" type="datetimeFigureOut">
              <a:rPr lang="fr-FR" smtClean="0"/>
              <a:t>09/12/2025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E78BF1-ED66-4B4E-A2AB-3150CB0436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13F444-BDC2-4695-AF5A-AEEFED9181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D4C08-308F-4D45-87A4-D9C23D455B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5104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7F44B451-B959-4C7A-9A6A-28EAE97A3E28}"/>
              </a:ext>
            </a:extLst>
          </p:cNvPr>
          <p:cNvSpPr/>
          <p:nvPr/>
        </p:nvSpPr>
        <p:spPr>
          <a:xfrm>
            <a:off x="2946400" y="223520"/>
            <a:ext cx="4876800" cy="10566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/>
              <a:t>1. </a:t>
            </a:r>
            <a:r>
              <a:rPr lang="fr-FR" b="1" dirty="0" err="1"/>
              <a:t>Economic</a:t>
            </a:r>
            <a:r>
              <a:rPr lang="fr-FR" b="1" dirty="0"/>
              <a:t> </a:t>
            </a:r>
            <a:r>
              <a:rPr lang="fr-FR" b="1" dirty="0" err="1"/>
              <a:t>Scale</a:t>
            </a:r>
            <a:r>
              <a:rPr lang="fr-FR" b="1" dirty="0"/>
              <a:t> Layer</a:t>
            </a:r>
            <a:br>
              <a:rPr lang="fr-FR" dirty="0"/>
            </a:br>
            <a:r>
              <a:rPr lang="fr-FR" sz="1400" dirty="0"/>
              <a:t>→ GDP, GNI, </a:t>
            </a:r>
            <a:r>
              <a:rPr lang="fr-FR" sz="1400" dirty="0" err="1"/>
              <a:t>consumption</a:t>
            </a:r>
            <a:r>
              <a:rPr lang="fr-FR" sz="1400" dirty="0"/>
              <a:t>, </a:t>
            </a:r>
            <a:r>
              <a:rPr lang="fr-FR" sz="1400" dirty="0" err="1"/>
              <a:t>expenditure</a:t>
            </a:r>
            <a:br>
              <a:rPr lang="fr-FR" sz="1400" dirty="0"/>
            </a:br>
            <a:r>
              <a:rPr lang="fr-FR" sz="1400" dirty="0"/>
              <a:t>→ </a:t>
            </a:r>
            <a:r>
              <a:rPr lang="fr-FR" sz="1400" dirty="0" err="1"/>
              <a:t>Larger</a:t>
            </a:r>
            <a:r>
              <a:rPr lang="fr-FR" sz="1400" dirty="0"/>
              <a:t> </a:t>
            </a:r>
            <a:r>
              <a:rPr lang="fr-FR" sz="1400" dirty="0" err="1"/>
              <a:t>economies</a:t>
            </a:r>
            <a:r>
              <a:rPr lang="fr-FR" sz="1400" dirty="0"/>
              <a:t> support more </a:t>
            </a:r>
            <a:r>
              <a:rPr lang="fr-FR" sz="1400" dirty="0" err="1"/>
              <a:t>research</a:t>
            </a:r>
            <a:r>
              <a:rPr lang="fr-FR" sz="1400" dirty="0"/>
              <a:t> institutions.</a:t>
            </a:r>
            <a:endParaRPr lang="fr-FR" dirty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8E57BFB3-30ED-4EA7-9698-0ED9DA87C1B4}"/>
              </a:ext>
            </a:extLst>
          </p:cNvPr>
          <p:cNvSpPr/>
          <p:nvPr/>
        </p:nvSpPr>
        <p:spPr>
          <a:xfrm>
            <a:off x="2946400" y="1413301"/>
            <a:ext cx="4876800" cy="10566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/>
              <a:t>2. </a:t>
            </a:r>
            <a:r>
              <a:rPr lang="fr-FR" b="1" dirty="0" err="1"/>
              <a:t>Industrial</a:t>
            </a:r>
            <a:r>
              <a:rPr lang="fr-FR" b="1" dirty="0"/>
              <a:t> </a:t>
            </a:r>
            <a:r>
              <a:rPr lang="fr-FR" b="1" dirty="0" err="1"/>
              <a:t>Complexity</a:t>
            </a:r>
            <a:r>
              <a:rPr lang="fr-FR" b="1" dirty="0"/>
              <a:t> Layer</a:t>
            </a:r>
            <a:br>
              <a:rPr lang="fr-FR" dirty="0"/>
            </a:br>
            <a:r>
              <a:rPr lang="fr-FR" sz="1400" dirty="0"/>
              <a:t>→ </a:t>
            </a:r>
            <a:r>
              <a:rPr lang="fr-FR" sz="1400" dirty="0" err="1"/>
              <a:t>Manufacturing</a:t>
            </a:r>
            <a:r>
              <a:rPr lang="fr-FR" sz="1400" dirty="0"/>
              <a:t> output, </a:t>
            </a:r>
            <a:r>
              <a:rPr lang="fr-FR" sz="1400" dirty="0" err="1"/>
              <a:t>energy</a:t>
            </a:r>
            <a:r>
              <a:rPr lang="fr-FR" sz="1400" dirty="0"/>
              <a:t> use, </a:t>
            </a:r>
            <a:r>
              <a:rPr lang="fr-FR" sz="1400" dirty="0" err="1"/>
              <a:t>emissions</a:t>
            </a:r>
            <a:br>
              <a:rPr lang="fr-FR" sz="1400" dirty="0"/>
            </a:br>
            <a:r>
              <a:rPr lang="fr-FR" sz="1400" dirty="0"/>
              <a:t>→ </a:t>
            </a:r>
            <a:r>
              <a:rPr lang="fr-FR" sz="1400" dirty="0" err="1"/>
              <a:t>Industrial</a:t>
            </a:r>
            <a:r>
              <a:rPr lang="fr-FR" sz="1400" dirty="0"/>
              <a:t> </a:t>
            </a:r>
            <a:r>
              <a:rPr lang="fr-FR" sz="1400" dirty="0" err="1"/>
              <a:t>systems</a:t>
            </a:r>
            <a:r>
              <a:rPr lang="fr-FR" sz="1400" dirty="0"/>
              <a:t> </a:t>
            </a:r>
            <a:r>
              <a:rPr lang="fr-FR" sz="1400" dirty="0" err="1"/>
              <a:t>demand</a:t>
            </a:r>
            <a:r>
              <a:rPr lang="fr-FR" sz="1400" dirty="0"/>
              <a:t> and </a:t>
            </a:r>
            <a:r>
              <a:rPr lang="fr-FR" sz="1400" dirty="0" err="1"/>
              <a:t>generate</a:t>
            </a:r>
            <a:r>
              <a:rPr lang="fr-FR" sz="1400" dirty="0"/>
              <a:t> </a:t>
            </a:r>
            <a:r>
              <a:rPr lang="fr-FR" sz="1400" dirty="0" err="1"/>
              <a:t>scientific</a:t>
            </a:r>
            <a:r>
              <a:rPr lang="fr-FR" sz="1400" dirty="0"/>
              <a:t> expertise.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B1E89B35-5331-4FF8-AD43-3702E33A2FFB}"/>
              </a:ext>
            </a:extLst>
          </p:cNvPr>
          <p:cNvSpPr/>
          <p:nvPr/>
        </p:nvSpPr>
        <p:spPr>
          <a:xfrm>
            <a:off x="2946400" y="2602552"/>
            <a:ext cx="4876800" cy="10566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/>
              <a:t>3. Investment &amp; Financial Layer</a:t>
            </a:r>
            <a:br>
              <a:rPr lang="fr-FR" dirty="0"/>
            </a:br>
            <a:r>
              <a:rPr lang="fr-FR" sz="1400" dirty="0"/>
              <a:t>→ Capital formation, </a:t>
            </a:r>
            <a:r>
              <a:rPr lang="fr-FR" sz="1400" dirty="0" err="1"/>
              <a:t>savings</a:t>
            </a:r>
            <a:r>
              <a:rPr lang="fr-FR" sz="1400" dirty="0"/>
              <a:t>, stock </a:t>
            </a:r>
            <a:r>
              <a:rPr lang="fr-FR" sz="1400" dirty="0" err="1"/>
              <a:t>markets</a:t>
            </a:r>
            <a:br>
              <a:rPr lang="fr-FR" sz="1400" dirty="0"/>
            </a:br>
            <a:r>
              <a:rPr lang="fr-FR" sz="1400" dirty="0"/>
              <a:t>→ Long-</a:t>
            </a:r>
            <a:r>
              <a:rPr lang="fr-FR" sz="1400" dirty="0" err="1"/>
              <a:t>term</a:t>
            </a:r>
            <a:r>
              <a:rPr lang="fr-FR" sz="1400" dirty="0"/>
              <a:t> </a:t>
            </a:r>
            <a:r>
              <a:rPr lang="fr-FR" sz="1400" dirty="0" err="1"/>
              <a:t>investments</a:t>
            </a:r>
            <a:r>
              <a:rPr lang="fr-FR" sz="1400" dirty="0"/>
              <a:t> </a:t>
            </a:r>
            <a:r>
              <a:rPr lang="fr-FR" sz="1400" dirty="0" err="1"/>
              <a:t>sustain</a:t>
            </a:r>
            <a:r>
              <a:rPr lang="fr-FR" sz="1400" dirty="0"/>
              <a:t> R&amp;D </a:t>
            </a:r>
            <a:r>
              <a:rPr lang="fr-FR" sz="1400" dirty="0" err="1"/>
              <a:t>ecosystems</a:t>
            </a:r>
            <a:r>
              <a:rPr lang="fr-FR" sz="1400" dirty="0"/>
              <a:t>.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474B19F3-1988-4D4C-AE95-51F731013439}"/>
              </a:ext>
            </a:extLst>
          </p:cNvPr>
          <p:cNvSpPr/>
          <p:nvPr/>
        </p:nvSpPr>
        <p:spPr>
          <a:xfrm>
            <a:off x="2946400" y="3788622"/>
            <a:ext cx="4876800" cy="10566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/>
              <a:t>4. </a:t>
            </a:r>
            <a:r>
              <a:rPr lang="fr-FR" b="1" dirty="0" err="1"/>
              <a:t>Openness</a:t>
            </a:r>
            <a:r>
              <a:rPr lang="fr-FR" b="1" dirty="0"/>
              <a:t> &amp; </a:t>
            </a:r>
            <a:r>
              <a:rPr lang="fr-FR" b="1" dirty="0" err="1"/>
              <a:t>Integration</a:t>
            </a:r>
            <a:r>
              <a:rPr lang="fr-FR" b="1" dirty="0"/>
              <a:t> Layer</a:t>
            </a:r>
            <a:br>
              <a:rPr lang="fr-FR" dirty="0"/>
            </a:br>
            <a:r>
              <a:rPr lang="fr-FR" sz="1400" dirty="0"/>
              <a:t>→ Imports, exports, services </a:t>
            </a:r>
            <a:r>
              <a:rPr lang="fr-FR" sz="1400" dirty="0" err="1"/>
              <a:t>trade</a:t>
            </a:r>
            <a:r>
              <a:rPr lang="fr-FR" sz="1400" dirty="0"/>
              <a:t>, migrant flows</a:t>
            </a:r>
            <a:br>
              <a:rPr lang="fr-FR" sz="1400" dirty="0"/>
            </a:br>
            <a:r>
              <a:rPr lang="fr-FR" sz="1400" dirty="0"/>
              <a:t>→ Global interaction </a:t>
            </a:r>
            <a:r>
              <a:rPr lang="fr-FR" sz="1400" dirty="0" err="1"/>
              <a:t>enhances</a:t>
            </a:r>
            <a:r>
              <a:rPr lang="fr-FR" sz="1400" dirty="0"/>
              <a:t> </a:t>
            </a:r>
            <a:r>
              <a:rPr lang="fr-FR" sz="1400" dirty="0" err="1"/>
              <a:t>scientific</a:t>
            </a:r>
            <a:r>
              <a:rPr lang="fr-FR" sz="1400" dirty="0"/>
              <a:t> </a:t>
            </a:r>
            <a:r>
              <a:rPr lang="fr-FR" sz="1400" dirty="0" err="1"/>
              <a:t>visibility</a:t>
            </a:r>
            <a:r>
              <a:rPr lang="fr-FR" sz="1400" dirty="0"/>
              <a:t>.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BC2091B9-781A-4334-92EA-A6734475D14C}"/>
              </a:ext>
            </a:extLst>
          </p:cNvPr>
          <p:cNvSpPr/>
          <p:nvPr/>
        </p:nvSpPr>
        <p:spPr>
          <a:xfrm>
            <a:off x="2946400" y="4977873"/>
            <a:ext cx="4876800" cy="10566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/>
              <a:t>5. </a:t>
            </a:r>
            <a:r>
              <a:rPr lang="fr-FR" b="1" dirty="0" err="1"/>
              <a:t>Knowledge</a:t>
            </a:r>
            <a:r>
              <a:rPr lang="fr-FR" b="1" dirty="0"/>
              <a:t> Infrastructure Layer</a:t>
            </a:r>
            <a:br>
              <a:rPr lang="fr-FR" dirty="0"/>
            </a:br>
            <a:r>
              <a:rPr lang="fr-FR" sz="1400" dirty="0"/>
              <a:t>→ Publications, patents, </a:t>
            </a:r>
            <a:r>
              <a:rPr lang="fr-FR" sz="1400" dirty="0" err="1"/>
              <a:t>broadband</a:t>
            </a:r>
            <a:r>
              <a:rPr lang="fr-FR" sz="1400" dirty="0"/>
              <a:t> </a:t>
            </a:r>
            <a:r>
              <a:rPr lang="fr-FR" sz="1400" dirty="0" err="1"/>
              <a:t>access</a:t>
            </a:r>
            <a:br>
              <a:rPr lang="fr-FR" sz="1400" dirty="0"/>
            </a:br>
            <a:r>
              <a:rPr lang="fr-FR" sz="1400" dirty="0"/>
              <a:t>→ Direct drivers of </a:t>
            </a:r>
            <a:r>
              <a:rPr lang="fr-FR" sz="1400" dirty="0" err="1"/>
              <a:t>scientific</a:t>
            </a:r>
            <a:r>
              <a:rPr lang="fr-FR" sz="1400" dirty="0"/>
              <a:t> production.</a:t>
            </a:r>
          </a:p>
        </p:txBody>
      </p:sp>
      <p:pic>
        <p:nvPicPr>
          <p:cNvPr id="1026" name="Picture 2" descr="File:Money Flat Icon.svg - Wikimedia Commons">
            <a:extLst>
              <a:ext uri="{FF2B5EF4-FFF2-40B4-BE49-F238E27FC236}">
                <a16:creationId xmlns:a16="http://schemas.microsoft.com/office/drawing/2014/main" id="{D2C65183-D4E5-415B-A6FD-DAFA8748F5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39" y="188278"/>
            <a:ext cx="1091882" cy="1091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le:Industry icon.gif - Wikimedia Commons">
            <a:extLst>
              <a:ext uri="{FF2B5EF4-FFF2-40B4-BE49-F238E27FC236}">
                <a16:creationId xmlns:a16="http://schemas.microsoft.com/office/drawing/2014/main" id="{561F1747-B879-4E10-B447-5CA7E5ED7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970" y="1560088"/>
            <a:ext cx="1257465" cy="649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ile:Google Finance.png - Wikimedia Commons">
            <a:extLst>
              <a:ext uri="{FF2B5EF4-FFF2-40B4-BE49-F238E27FC236}">
                <a16:creationId xmlns:a16="http://schemas.microsoft.com/office/drawing/2014/main" id="{639FAF60-34BA-429E-B6A9-BA15FB573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761" y="2489030"/>
            <a:ext cx="1091882" cy="1091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ownload Svg Freeuse File Icons Globe Wikimedia Commons Open - Globe Circle  Icon Png PNG Image with No Background - PNGkey.com">
            <a:extLst>
              <a:ext uri="{FF2B5EF4-FFF2-40B4-BE49-F238E27FC236}">
                <a16:creationId xmlns:a16="http://schemas.microsoft.com/office/drawing/2014/main" id="{184E333E-3000-4B0B-A41C-7A613D959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722" y="3968962"/>
            <a:ext cx="695960" cy="69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File:Encyclopedia icon light.svg">
            <a:extLst>
              <a:ext uri="{FF2B5EF4-FFF2-40B4-BE49-F238E27FC236}">
                <a16:creationId xmlns:a16="http://schemas.microsoft.com/office/drawing/2014/main" id="{1462EDD2-F91A-415F-9D74-30419793B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5109" y="5083209"/>
            <a:ext cx="845185" cy="84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135483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118</Words>
  <Application>Microsoft Office PowerPoint</Application>
  <PresentationFormat>Grand écran</PresentationFormat>
  <Paragraphs>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Lenovo</dc:creator>
  <cp:lastModifiedBy>Lenovo</cp:lastModifiedBy>
  <cp:revision>2</cp:revision>
  <dcterms:created xsi:type="dcterms:W3CDTF">2025-12-09T22:53:29Z</dcterms:created>
  <dcterms:modified xsi:type="dcterms:W3CDTF">2025-12-09T23:05:24Z</dcterms:modified>
</cp:coreProperties>
</file>